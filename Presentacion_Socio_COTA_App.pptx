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01 // VISIÓN &amp; OPORTUNIDAD DE NEGOCIO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262320"/>
                </a:solidFill>
                <a:latin typeface="Arial"/>
              </a:defRPr>
            </a:pPr>
            <a:r>
              <a:t>COTA APP: Sistema Operativo para Estudios de Arquitectura e Interiorismo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MVP v2.0 ACTIVO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5204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3520440" cy="50800"/>
          </a:xfrm>
          <a:prstGeom prst="rect">
            <a:avLst/>
          </a:prstGeom>
          <a:solidFill>
            <a:srgbClr val="D9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1. El Problema del Sector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El 90% de estudios pequeños y medianos operan fragmentados entre hojas de Excel sueltas, WhatsApp y Drive.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Descontrol en compras FF&amp;E por ambiente: presupuestos que se desfasan sin trazabilidad.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Ceguera financiera: no se conoce la liquidez real ni el saldo exacto por contratista hasta cerrar la obra.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Herramientas genéricas (Notion, Trello, Monday) no manejan partidas de obra, FF&amp;E ni actas técnicas.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325880"/>
            <a:ext cx="35204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4256" y="1325880"/>
            <a:ext cx="3520440" cy="50800"/>
          </a:xfrm>
          <a:prstGeom prst="rect">
            <a:avLst/>
          </a:prstGeom>
          <a:solidFill>
            <a:srgbClr val="C8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490472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2. La Solución: COTA App v2.0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Plataforma integral 'All-in-One' creada específicamente para el flujo de Arquitectura, Diseño Interior y Obra.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Conecta las 8 fases de diseño, catálogo FF&amp;E por ambiente, planos, contratistas, cobros y actas en PDF.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Identidad visual editorial 'Warm Architectural Atelier' que eleva la imagen del estudio ante clientes VIP.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Sincronización híbrida en tiempo real con Google Sheets en la nube + respaldo directo en Excel (.xlsx).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325880"/>
            <a:ext cx="35204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9872" y="1325880"/>
            <a:ext cx="3520440" cy="50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490472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3. Doble Oportunidad para Socios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USO INTERNO INMEDIATO: Estandarizar el 100% de proyectos del estudio, blindando el margen operativo y ahorrando horas de gestión.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ESCALABILIDAD SAAS B2B: Arquitectura multi-socio lista para comercializar por suscripción a otros estudios de arquitectura e interiorismo.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Producto funcional hoy mismo: 6 módulos globales de estudio + 8 módulos por proyecto ya operativos.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80"/>
            <a:ext cx="175564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62320"/>
                </a:solidFill>
              </a:defRPr>
            </a:pPr>
            <a:r>
              <a:t>01. BRIEF &amp; FASES</a:t>
            </a:r>
          </a:p>
          <a:p>
            <a:pPr algn="ctr">
              <a:defRPr sz="950">
                <a:solidFill>
                  <a:srgbClr val="6E665E"/>
                </a:solidFill>
              </a:defRPr>
            </a:pPr>
            <a:r>
              <a:t>8 Etapas + Gantt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3160" y="4983480"/>
            <a:ext cx="175564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A7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62320"/>
                </a:solidFill>
              </a:defRPr>
            </a:pPr>
            <a:r>
              <a:t>02. CATÁLOGO FF&amp;E</a:t>
            </a:r>
          </a:p>
          <a:p>
            <a:pPr algn="ctr">
              <a:defRPr sz="950">
                <a:solidFill>
                  <a:srgbClr val="6E665E"/>
                </a:solidFill>
              </a:defRPr>
            </a:pPr>
            <a:r>
              <a:t>Costos por Ambiente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4983480"/>
            <a:ext cx="175564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62320"/>
                </a:solidFill>
              </a:defRPr>
            </a:pPr>
            <a:r>
              <a:t>03. PLANOS &amp; REV.</a:t>
            </a:r>
          </a:p>
          <a:p>
            <a:pPr algn="ctr">
              <a:defRPr sz="950">
                <a:solidFill>
                  <a:srgbClr val="6E665E"/>
                </a:solidFill>
              </a:defRPr>
            </a:pPr>
            <a:r>
              <a:t>Control Expediente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199" y="4983480"/>
            <a:ext cx="175564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A7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62320"/>
                </a:solidFill>
              </a:defRPr>
            </a:pPr>
            <a:r>
              <a:t>04. OBRA &amp; PARTIDAS</a:t>
            </a:r>
          </a:p>
          <a:p>
            <a:pPr algn="ctr">
              <a:defRPr sz="950">
                <a:solidFill>
                  <a:srgbClr val="6E665E"/>
                </a:solidFill>
              </a:defRPr>
            </a:pPr>
            <a:r>
              <a:t>Contratistas 1-5 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4983480"/>
            <a:ext cx="175564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62320"/>
                </a:solidFill>
              </a:defRPr>
            </a:pPr>
            <a:r>
              <a:t>05. FINANZAS</a:t>
            </a:r>
          </a:p>
          <a:p>
            <a:pPr algn="ctr">
              <a:defRPr sz="950">
                <a:solidFill>
                  <a:srgbClr val="6E665E"/>
                </a:solidFill>
              </a:defRPr>
            </a:pPr>
            <a:r>
              <a:t>Cobros &amp; Liquidez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21240" y="4983480"/>
            <a:ext cx="1755648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A7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62320"/>
                </a:solidFill>
              </a:defRPr>
            </a:pPr>
            <a:r>
              <a:t>06. ACTAS &amp; CIERRE</a:t>
            </a:r>
          </a:p>
          <a:p>
            <a:pPr algn="ctr">
              <a:defRPr sz="950">
                <a:solidFill>
                  <a:srgbClr val="6E665E"/>
                </a:solidFill>
              </a:defRPr>
            </a:pPr>
            <a:r>
              <a:t>PDF + Punch 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02 // VISTA EJECUTIVA DEL ESTUDIO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262320"/>
                </a:solidFill>
                <a:latin typeface="Arial"/>
              </a:defRPr>
            </a:pPr>
            <a:r>
              <a:t>Portafolio Activo y 5 Widgets Ejecutivos en Tiempo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Pestaña: PROYECTOS &amp; DISEÑO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42976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4297680" cy="50800"/>
          </a:xfrm>
          <a:prstGeom prst="rect">
            <a:avLst/>
          </a:prstGeom>
          <a:solidFill>
            <a:srgbClr val="C8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3931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Control Ejecutivo desde la Primera Pantalla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5 KPIs Simétricos en Tiempo Real: Proyectos Activos, Resumen de Cartera (Presupuesto vs. Ejecutado), Avance de Diseño (%), FF&amp;E por Aprobar (S/) e Hitos por Cobrar (S/).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Filtro Inteligente por Proyecto: Permite ver el resumen de todo el estudio o aislar los números, cobros y FF&amp;E de un solo proyecto con un clic.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Vista Unificada + Carpetas: Pestaña 'TODOS LOS PROYECTOS (5)' más carpetas por división (Comercial &amp; Hospitality, Residencial VIP, Residencial).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Tarjetas Desplegables por Estado: Agrupadas en En Proceso, Planificación y Completado con barra de avance y acceso directo al expediente.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325880"/>
            <a:ext cx="6565392" cy="507492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554480"/>
            <a:ext cx="6108192" cy="4617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#1 ]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Portafolio Principal y 5 KPIs Ejecutivos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¿A qué tomarle screenshot en la app y pegarlo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Abre la pestaña principal 'PROYECTOS &amp; DISEÑO'.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Asegúrate de estar en '🗂️ TODOS LOS PROYECTOS (5)'.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Haz clic en '🏛️ CASA LA PLANICIE' para desplegar su ficha resumen.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Toma la captura abarcando los 5 KPIs superiores y la lista de proyectos.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03 // RENTABILIDAD GLOBAL &amp; ESPECIALISTAS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262320"/>
                </a:solidFill>
                <a:latin typeface="Arial"/>
              </a:defRPr>
            </a:pPr>
            <a:r>
              <a:t>Finanzas Consolidadas del Estudio y Directorio de Contratistas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Pestañas: FINANZAS + CONTRATISTAS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5394960" cy="50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Finanzas Consolidadas del Estudio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Calcula el Flujo de Caja Neto real: Total Cobrado − (Pagos Obra + Compras FF&amp;E + Caja Chica).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Gráfico comparativo por proyecto (Presupuesto vs. Cobrado vs. Egresos) y exportación a CSV.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5394960" cy="292608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493776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#2 ]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Finanzas Consolidadas y Gráfico Comparativo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¿A qué tomarle screenshot en la app y pegarlo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Entra a la pestaña 'FINANZAS DEL ESTUDIO'.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Captura los 5 KPIs financieros, el gráfico de barras de los 5 proyectos y la tabla inferior.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32588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325880"/>
            <a:ext cx="5394960" cy="50800"/>
          </a:xfrm>
          <a:prstGeom prst="rect">
            <a:avLst/>
          </a:prstGeom>
          <a:solidFill>
            <a:srgbClr val="C8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490472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Directorio Inteligente de Contratistas (1–5 ★)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Cruza las tareas activas para mostrar quién está '🔵 En Obra Hoy' o '🟢 Disponible' y su carga a 7 días.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Calificación en estrellas (⭐) y Bitácora Técnica histórica de Méritos [+] e Incidencias [-].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3474720"/>
            <a:ext cx="5394960" cy="292608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3703320"/>
            <a:ext cx="493776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#3 ]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Directorio de Contratistas y Bitácora Técnica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¿A qué tomarle screenshot en la app y pegarlo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Entra a la pestaña 'BASE CONTRATISTAS'.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Captura el directorio con estrellas ⭐ y la sección inferior 'Bitácora Técnica de Desempeño'.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04 // COORDINACIÓN SEMANAL ENTRE SOCIOS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262320"/>
                </a:solidFill>
                <a:latin typeface="Arial"/>
              </a:defRPr>
            </a:pPr>
            <a:r>
              <a:t>Control Operativo Diario y Calendario Técnico Mensual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Pestañas: OPERATIVO + CALENDARIO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42976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4297680" cy="50800"/>
          </a:xfrm>
          <a:prstGeom prst="rect">
            <a:avLst/>
          </a:prstGeom>
          <a:solidFill>
            <a:srgbClr val="D98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3931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Operación Diaria del Estudio sin Fricción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Columna 1 — Logística Diaria y Pendientes: Tareas rápidas asignadas por socio (Compras FF&amp;E, Pagos, Proveedores, Cliente) con cierre en un clic ('✓ LISTO').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Columna 2 — En Ejecución (Hoy): Qué partidas constructivas y qué contratistas están activos hoy mismo en cada obra.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Columna 3 — Próximos Arranques (7 Días): Alertas preventivas de inicios de obra para coordinar compras y accesos a tiempo.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Calendario Técnico Mensual: Vista mensual completa donde cada actividad se pinta con el color del proyecto correspondiente.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325880"/>
            <a:ext cx="6565392" cy="507492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554480"/>
            <a:ext cx="6108192" cy="4617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#4 ]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Tablero de Control Operativo o Calendario Mensual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¿A qué tomarle screenshot en la app y pegarlo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Entra a la pestaña 'CONTROL OPERATIVO' (vista de 3 columnas operativas)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o a la pestaña 'CALENDARIO' (agenda mensual coloreada por proyecto).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Toma una captura completa de la vista que prefieras destacar ante tu socio.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05 // EXPEDIENTE INTEGRAL DE PROYECTO (MÓDULOS 01 Y 02)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262320"/>
                </a:solidFill>
                <a:latin typeface="Arial"/>
              </a:defRPr>
            </a:pPr>
            <a:r>
              <a:t>Resumen del Proyecto, Brief y Cronograma Gantt de las 8 Fases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Módulos: 01. RESUMEN + 02. FASES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42976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4297680" cy="50800"/>
          </a:xfrm>
          <a:prstGeom prst="rect">
            <a:avLst/>
          </a:prstGeom>
          <a:solidFill>
            <a:srgbClr val="C8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3931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8 Módulos Especializados por Proyecto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Al abrir un proyecto (ej. 'Casa La Planicie'), se despliega su expediente completo en 8 pestañas.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01. Resumen &amp; Brief: 6 KPIs exclusivos del proyecto (Ppto. Total, Cobrado, Pagos Obra, Compras FF&amp;E, Saldo Caja Chica y % Fases), Ficha Técnica y Brief del cliente.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02. Fases de Diseño: Las 8 etapas canónicas desde '01. Levantamiento &amp; Brief' hasta '08. Cierre &amp; Entrega Final'.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Incluye Diagrama Gantt interactivo por estado y casilla de validación 'Aprobado por Cliente'.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325880"/>
            <a:ext cx="6565392" cy="507492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554480"/>
            <a:ext cx="6108192" cy="4617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#5 ]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Resumen del Proyecto o Diagrama Gantt de Diseño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¿A qué tomarle screenshot en la app y pegarlo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Abre el proyecto 'Casa La Planicie' con el botón 'ABRIR EXPEDIENTE →'.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Toma la captura en '01. RESUMEN' (6 KPIs + Ficha Técnica + 8 barras de avance)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o en '02. FASES DE DISEÑO' (mostrando el Diagrama Gantt y la tabla inferior).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06 // EL CORAZÓN DEL DISEÑO INTERIOR (MÓDULOS 03 Y 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262320"/>
                </a:solidFill>
                <a:latin typeface="Arial"/>
              </a:defRPr>
            </a:pPr>
            <a:r>
              <a:t>Catálogo FF&amp;E por Ambiente y Control de Planos Técnicos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Módulos: 03. FF&amp;E + 04. PLANOS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42976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4297680" cy="50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3931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Control Presupuestal FF&amp;E por Ambiente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03. Especificaciones FF&amp;E: Planilla especializada filtrable por Ambiente (Sala, Comedor, Cocina, Dormitorio Principal, Terraza) y Categoría (Mobiliario, Iluminación, Acabados).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Cálculo automático de Costo Estimado vs. Costo Real de compra, revelando el ahorro o sobrecosto por cada ambiente.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Ciclo completo de procura: Propuesto → Cotizado → Aprobado Cliente → En Producción → Instalado.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04. Entregables &amp; Planos: Control de revisiones (Rev 0, Rev A), aprobaciones y links a Drive.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325880"/>
            <a:ext cx="6565392" cy="507492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554480"/>
            <a:ext cx="6108192" cy="4617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#6 ]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Catálogo FF&amp;E y Desglose por Ambiente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¿A qué tomarle screenshot en la app y pegarlo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Dentro de 'Casa La Planicie', entra a '03. ESPECIFICACIONES FF&amp;E'.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Haz clic en '📊 Ver desglose de presupuesto FF&amp;E por Ambiente'.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Toma la captura mostrando los 4 KPIs, el desglose por ambiente y el catálogo FF&amp;E.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07 // EJECUCIÓN DE OBRA, FINANZAS Y CIERRE (MÓDULOS 05 AL 08)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262320"/>
                </a:solidFill>
                <a:latin typeface="Arial"/>
              </a:defRPr>
            </a:pPr>
            <a:r>
              <a:t>Partidas de Obra, Hitos de Cobro, Actas en PDF y Punch 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Módulos: 05, 06, 07 y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5394960" cy="50800"/>
          </a:xfrm>
          <a:prstGeom prst="rect">
            <a:avLst/>
          </a:prstGeom>
          <a:solidFill>
            <a:srgbClr val="C8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05. Ejecución de Obra &amp; 06. Cobros / Caja Chica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Control por partida constructiva con insignias en vivo de PACTADO / PAGADO / SALDO y sugeridor inteligente de contratistas disponibles.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Cronograma de hitos de cobro al cliente y registro rápido de Caja Chica de Obra.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5394960" cy="292608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493776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#7 ]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Partidas de Obra y Saldos de Contratistas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¿A qué tomarle screenshot en la app y pegarlo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Dentro de 'Casa La Planicie', abre '05. EJECUCIÓN &amp; PARTIDAS'.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Captura las partidas con sus insignias PACTADO / PAGADO / SALDO y tareas.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32588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325880"/>
            <a:ext cx="5394960" cy="50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490472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07. Actas con Exportación PDF &amp; 08. Punch List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Importa notas de reunión / Google Meet para estructurar asistentes y acuerdos, generando un Acta PDF formal con membrete en un clic.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Punch List de inspección final por ambiente y prioridad previo a la entrega de obra.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3474720"/>
            <a:ext cx="5394960" cy="2926080"/>
          </a:xfrm>
          <a:prstGeom prst="roundRect">
            <a:avLst/>
          </a:prstGeom>
          <a:solidFill>
            <a:srgbClr val="EFECE6"/>
          </a:solidFill>
          <a:ln w="22225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3703320"/>
            <a:ext cx="493776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C85A32"/>
                </a:solidFill>
                <a:latin typeface="Consolas"/>
              </a:defRPr>
            </a:pPr>
            <a:r>
              <a:t>[ ESPACIO PARA CAPTURA DE PANTALLA #8 ]</a:t>
            </a:r>
          </a:p>
          <a:p>
            <a:pPr algn="ctr">
              <a:spcAft>
                <a:spcPts val="1000"/>
              </a:spcAft>
              <a:defRPr sz="1400" b="1">
                <a:solidFill>
                  <a:srgbClr val="262320"/>
                </a:solidFill>
                <a:latin typeface="Arial"/>
              </a:defRPr>
            </a:pPr>
            <a:r>
              <a:t>Actas de Reunión (Exportar PDF) o Punch List</a:t>
            </a:r>
          </a:p>
          <a:p>
            <a:pPr algn="ctr">
              <a:spcAft>
                <a:spcPts val="400"/>
              </a:spcAft>
              <a:defRPr sz="1050" b="1">
                <a:solidFill>
                  <a:srgbClr val="262320"/>
                </a:solidFill>
                <a:latin typeface="Arial"/>
              </a:defRPr>
            </a:pPr>
            <a:r>
              <a:t>¿A qué tomarle screenshot en la app y pegarlo aquí?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Abre '07. REUNIONES &amp; ACTAS' en 'Casa La Planicie'.</a:t>
            </a:r>
          </a:p>
          <a:p>
            <a:pPr algn="ctr">
              <a:spcAft>
                <a:spcPts val="300"/>
              </a:spcAft>
              <a:defRPr sz="1000">
                <a:solidFill>
                  <a:srgbClr val="6E665E"/>
                </a:solidFill>
                <a:latin typeface="Arial"/>
              </a:defRPr>
            </a:pPr>
            <a:r>
              <a:t>• Captura la ficha del acta, las tablas de participantes/acuerdos y el botón '📥 EXPORTAR ACTA A PDF'.</a:t>
            </a:r>
          </a:p>
          <a:p>
            <a:pPr algn="ctr">
              <a:defRPr sz="900" i="1">
                <a:solidFill>
                  <a:srgbClr val="C85A32"/>
                </a:solidFill>
                <a:latin typeface="Arial"/>
              </a:defRPr>
            </a:pPr>
            <a:r>
              <a:t>(En Google Slides / PowerPoint: pega tu captura con Ctrl+V encima de este recuadro)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5A32"/>
                </a:solidFill>
                <a:latin typeface="Consolas"/>
              </a:defRPr>
            </a:pPr>
            <a:r>
              <a:t>08 // TECNOLOGÍA &amp; VISIÓN ESTRATÉGICA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262320"/>
                </a:solidFill>
                <a:latin typeface="Arial"/>
              </a:defRPr>
            </a:pPr>
            <a:r>
              <a:t>Solidez Técnica Lograda y Hoja de Ruta con el Socio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0" y="384048"/>
            <a:ext cx="1828800" cy="347472"/>
          </a:xfrm>
          <a:prstGeom prst="roundRect">
            <a:avLst/>
          </a:prstGeom>
          <a:solidFill>
            <a:srgbClr val="EFECE6"/>
          </a:solidFill>
          <a:ln w="1270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C85A32"/>
                </a:solidFill>
                <a:latin typeface="Consolas"/>
              </a:defRPr>
            </a:pPr>
            <a:r>
              <a:t>LISTO PARA PRODUCCIÓN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091672" cy="19050"/>
          </a:xfrm>
          <a:prstGeom prst="rect">
            <a:avLst/>
          </a:prstGeom>
          <a:solidFill>
            <a:srgbClr val="DF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539496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5394960" cy="50800"/>
          </a:xfrm>
          <a:prstGeom prst="rect">
            <a:avLst/>
          </a:prstGeom>
          <a:solidFill>
            <a:srgbClr val="C85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50292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Lo que ya está resuelto a nivel técnico (v2.0)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Base de Datos Híbrida Nube + Local: Conecta en tiempo real con Google Sheets y cuenta con soporte directo y fallback automático a archivos Excel (.xlsx) en Google Drive.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Sincronización Inteligente (Hash MD5): Detecta exactamente qué tablas cambiaron ('● X cambios sin guardar') y sincroniza solo lo necesario.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Identidad Visual 'Warm Architectural Atelier': Diseño limpio en tonos papel arquitectónico (#F7F4EF) y terracota (#C85A32), con grillas CSS simétricas adaptables a cualquier pantalla.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Multi-Socio Configurable: Nombres de directores/socios configurables desde el panel lateral sin depender de código fijo.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Calidad Asegurada: Arquitectura modular respaldada por 22 pruebas automatizadas (pytest) pasando al 100%.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325880"/>
            <a:ext cx="539496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FD9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325880"/>
            <a:ext cx="5394960" cy="50800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490472"/>
            <a:ext cx="50292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62320"/>
                </a:solidFill>
                <a:latin typeface="Arial"/>
              </a:defRPr>
            </a:pPr>
            <a:r>
              <a:t>Hoja de Ruta Propuesta con el Socio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FASE 1 — Implementación Interna Inmediata (Mes 1): Cargar el 100% de los proyectos activos del estudio, estandarizando presupuestos FF&amp;E, control de contratistas y emisión de actas PDF para clientes.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FASE 2 — Portal de Cliente &amp; Reportes Ejecutivos (Mes 2–3): Vista dedicada para que el cliente apruebe especificaciones FF&amp;E en línea y consulte su estado de cuenta y avance de fases.</a:t>
            </a:r>
          </a:p>
          <a:p>
            <a:pPr>
              <a:spcAft>
                <a:spcPts val="600"/>
              </a:spcAft>
              <a:defRPr sz="1050">
                <a:solidFill>
                  <a:srgbClr val="6E665E"/>
                </a:solidFill>
                <a:latin typeface="Arial"/>
              </a:defRPr>
            </a:pPr>
            <a:r>
              <a:t>▪  FASE 3 — Escalabilidad Comercial como SaaS B2B (Mes 4+): Licenciamiento por suscripción mensual para estudios pequeños y medianos de arquitectura e interiorismo en Perú y Latinoamérica.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