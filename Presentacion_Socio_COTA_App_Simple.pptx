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01 // VISIÓN Y OPORTUNIDAD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COTA APP: Plataforma de Gestión para Proyectos de Diseño y Remodelación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VERSIÓN v2.0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20440" cy="50800"/>
          </a:xfrm>
          <a:prstGeom prst="rect">
            <a:avLst/>
          </a:prstGeom>
          <a:solidFill>
            <a:srgbClr val="D9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1. El Problema del Sector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La mayoría de estudios de diseño y remodelación manejan su operación dispersa entre hojas de Excel sueltas, WhatsApp y carpetas en la nube.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Descontrol en compras de materiales y mobiliario: los presupuestos por habitación se desfasan sin detectarlo a tiempo.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Falta de claridad financiera: no se conoce la ganancia real ni el saldo pendiente con cada proveedor hasta terminar la obra.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Las apps genéricas de tareas (Notion, Trello, Monday) no sirven para controlar presupuestos de obra, compras por ambiente ni actas formales.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3258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325880"/>
            <a:ext cx="352044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490472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2. La Solución: COTA App v2.0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Sistema todo-en-uno diseñado para controlar un proyecto completo desde la idea inicial hasta la entrega final al cliente.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Conecta las 8 etapas de diseño, el catálogo de materiales y muebles por habitación, los planos, los pagos a trabajadores, los cobros y las actas en PDF.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Diseño visual limpio y ejecutivo que eleva la imagen profesional de la empresa frente a los clientes.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Guardado en tiempo real en la nube (Google Sheets) con respaldo directo en archivos Excel (.xlsx) en Google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258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325880"/>
            <a:ext cx="3520440" cy="508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90472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3. Doble Oportunidad para Socios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USO INTERNO INMEDIATO: Ordenar el 100% de nuestros proyectos activos, protegiendo el margen de ganancia y ahorrando horas administrativas.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MODELO DE SUSCRIPCIÓN (SaaS): El sistema está listo para poder alquilarlo mensualmente a otros estudios de diseño, arquitectura y remodelación.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Producto 100% operativo hoy: 6 vistas generales de la empresa + 8 módulos detallados por cada proyecto.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01. CRONOGRAMA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Las 8 etapas de avance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02. MATERIALES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Compras por habitación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03. PLANOS Y 3D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Control de versiones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04. OBRA Y EQUIPO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Contratistas 1 a 5 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05. FINANZAS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Ingresos vs. Gastos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4983480"/>
            <a:ext cx="17556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62320"/>
                </a:solidFill>
              </a:defRPr>
            </a:pPr>
            <a:r>
              <a:t>06. ACTAS Y ENTREGA</a:t>
            </a:r>
          </a:p>
          <a:p>
            <a:pPr algn="ctr">
              <a:defRPr sz="950">
                <a:solidFill>
                  <a:srgbClr val="6E665E"/>
                </a:solidFill>
              </a:defRPr>
            </a:pPr>
            <a:r>
              <a:t>PDF + Revisión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02 // VISTA GENERAL DE LA EMPRESA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Portafolio de Proyectos y 5 Métricas Clave en Tiempo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Pestaña: PROYECTOS &amp; DISEÑO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4297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429768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3931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Resumen Ejecutivo desde la Primera Pantalla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5 Métricas Clave en Tiempo Real: Proyectos Activos, Presupuesto Total Contratado (vs. monto ejecutado), Porcentaje de Avance de Diseño (%), Materiales por Aprobar (S/) y Pagos por Cobrar al Cliente (S/).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Filtro Inteligente por Proyecto: Permite ver los números globales de toda la empresa o seleccionar un solo proyecto para ver al instante sus cobros y su lista de materiales.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Vista Unificada + Carpetas: Pestaña 'TODOS LOS PROYECTOS (5)' más carpetas por unidad de negocio (Comercial &amp; Hospitality, Residencial VIP, Residencial).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Tarjetas Desplegables por Estado: Proyectos agrupados en En Proceso, Planificación y Completado con barra de progreso y acceso directo a su expediente.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6565392" cy="507492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108192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#1 ]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Portafolio Principal y las 5 Métricas de la Empresa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Abre la pestaña principal 'PROYECTOS &amp; DISEÑO'.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Asegúrate de estar en '🗂️ TODOS LOS PROYECTOS (5)'.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Haz clic en '🏛️ CASA LA PLANICIE' para desplegar su ficha resumen.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Toma la captura abarcando las 5 métricas superiores y la lista de proyectos.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03 // RENTABILIDAD GLOBAL Y PROVEEDORES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Finanzas Consolidadas de la Empresa y Directorio de Contratistas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Pestañas: FINANZAS + CONTRATISTAS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508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Finanzas Consolidadas de la Empresa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Calcula la Liquidez Neta real: Total Cobrado a Clientes − (Pagos a Contratistas + Compra de Materiales + Gastos Menores).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Gráfico comparativo por proyecto (Presupuesto Contratado vs. Cobrado vs. Gastado) y descarga directa en Excel/CSV.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394960" cy="292608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49377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#2 ]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Finanzas de la Empresa y Gráfico Comparativo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Entra a la pestaña 'FINANZAS DEL ESTUDIO'.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Captura las 5 métricas financieras, el gráfico de barras de los 5 proyectos y la tabla inferior.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2588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25880"/>
            <a:ext cx="539496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90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Directorio Inteligente de Contratistas (1–5 ★)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Cruza las tareas activas para mostrar quién está '🔵 En Obra Hoy' o '🟢 Disponible' y su carga de trabajo para los próximos 7 días.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Calificación en estrellas (⭐) e historial de desempeño con Puntos a Favor [+] e Incidencias [-].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474720"/>
            <a:ext cx="5394960" cy="292608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703320"/>
            <a:ext cx="49377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#3 ]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Directorio de Contratistas y Calificación por Estrellas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Entra a la pestaña 'BASE CONTRATISTAS'.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Captura el directorio con estrellas ⭐ y la sección inferior de historial de desempeño.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04 // COORDINACIÓN SEMANAL ENTRE SOCIOS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Control Operativo Diario y Calendario Mensual de Actividades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Pestañas: OPERATIVO + CALENDARIO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4297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4297680" cy="50800"/>
          </a:xfrm>
          <a:prstGeom prst="rect">
            <a:avLst/>
          </a:prstGeom>
          <a:solidFill>
            <a:srgbClr val="D9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3931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Operación Diaria del Equipo sin Fricciones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Columna 1 — Pendientes y Logística Diaria: Tareas rápidas asignadas por socio (Compras de materiales, Pagos, Proveedores, Clientes) con botón '✓ LISTO' al completarlas.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Columna 2 — En Ejecución (Hoy): Qué trabajos de obra y qué contratistas están activos hoy mismo en cada proyecto.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Columna 3 — Próximos Inicios (7 Días): Alertas preventivas de los trabajos que arrancan esta semana para coordinar compras y permisos a tiempo.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Calendario Mensual: Vista mensual completa donde cada actividad se pinta con el color del proyecto correspondiente.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6565392" cy="507492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108192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#4 ]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Tablero de Control Operativo o Calendario Mensual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Entra a la pestaña 'CONTROL OPERATIVO' (vista de 3 columnas de tareas diarias)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o a la pestaña 'CALENDARIO' (agenda mensual coloreada por proyecto).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Toma una captura completa de la vista que prefieras destacar ante tu socio.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05 // EXPEDIENTE DEL PROYECTO (MÓDULOS 01 Y 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Resumen del Proyecto, Requerimientos y Cronograma de las 8 Etapas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Módulos: 01. RESUMEN + 02.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4297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429768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3931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8 Módulos Especializados por cada Proyecto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Al abrir un proyecto (ej. 'Casa La Planicie'), se despliega su expediente completo organizado en 8 pestañas.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01. Resumen General: 6 métricas financieras y de avance del proyecto (Presupuesto Total, Cobrado, Pagos Obra, Compra de Materiales, Saldo Caja Chica y % Etapas), datos técnicos y requerimientos del cliente.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02. Etapas de Diseño: Las 8 etapas paso a paso desde '01. Levantamiento Inicial' hasta '08. Cierre y Entrega Final'.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Incluye un Cronograma Visual de barras por fechas y casilla de verificación 'Aprobado por Cliente'.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6565392" cy="507492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108192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#5 ]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Resumen del Proyecto o Cronograma Visual de Etapas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Abre el proyecto 'Casa La Planicie' con el botón 'ABRIR EXPEDIENTE →'.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Toma la captura en '01. RESUMEN' (6 métricas + Ficha Técnica + 8 barras de avance)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o en '02. FASES DE DISEÑO' (mostrando el Cronograma Visual de barras y la tabla inferior).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06 // CONTROL DE COMPRAS Y DOCUMENTOS (MÓDULOS 03 Y 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Presupuesto de Materiales y Mobiliario por Ambiente y Control de Planos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Módulos: 03. MATERIALES + 04. PLANOS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4297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4297680" cy="508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3931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Presupuesto de Materiales y Muebles por Habitación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03. Materiales, Mobiliario y Acabados (pestaña FF&amp;E): Planilla interactiva filtrable por Ambiente (Sala, Comedor, Cocina, Dormitorio Principal, Terraza) y por Categoría (Muebles, Iluminación, Acabados).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Cálculo automático de Presupuesto Estimado vs. Costo Real de compra, mostrando el ahorro o sobrecosto en cada habitación.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Seguimiento de cada compra: Propuesto → Cotizado → Aprobado por Cliente → En Fabricación → Instalado.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04. Entregables y Planos: Control de versiones de planos y vistas 3D, estado de aprobación y enlaces a la nube.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6565392" cy="507492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108192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#6 ]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Lista de Materiales y Desglose de Costos por Ambiente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Dentro de 'Casa La Planicie', entra a '03. ESPECIFICACIONES FF&amp;E'.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Haz clic en '📊 Ver desglose de presupuesto FF&amp;E por Ambiente'.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Toma la captura mostrando las 4 métricas superiores, el resumen por habitación y el listado de materiales.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07 // EJECUCIÓN DE OBRA, FINANZAS Y CIERRE (MÓDULOS 05 AL 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Control de Obra, Hitos de Cobro, Actas en PDF y Revisión de Entrega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Módulos: 05, 06, 07 y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05. Ejecución de Obra y 06. Cobros / Caja Chica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Control por rubro de obra (Demolición, Carpintería, Pintura) con indicadores de MONTO PACTADO / PAGADO / SALDO y sugeridor automático de contratistas disponibles.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Cronograma de pagos del cliente y registro rápido de gastos menores (Caja Chica).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394960" cy="292608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49377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#7 ]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Rubros de Obra y Control de Pagos a Contratistas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Dentro de 'Casa La Planicie', abre '05. EJECUCIÓN &amp; PARTIDAS'.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Captura los rubros de obra con sus etiquetas PACTADO / PAGADO / SALDO y tareas.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2588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25880"/>
            <a:ext cx="5394960" cy="508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90472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07. Actas en PDF Automático y 08. Revisión de Entrega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Importa apuntes de reunión o Google Meet para ordenar asistentes y acuerdos, generando un Acta formal en PDF con membrete en un clic.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Módulo 08 (Punch List): Lista de observaciones y retoques finales por habitación antes de entregar la obra.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474720"/>
            <a:ext cx="5394960" cy="2926080"/>
          </a:xfrm>
          <a:prstGeom prst="roundRect">
            <a:avLst/>
          </a:prstGeom>
          <a:solidFill>
            <a:srgbClr val="EFECE6"/>
          </a:solidFill>
          <a:ln w="22225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703320"/>
            <a:ext cx="49377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85A32"/>
                </a:solidFill>
                <a:latin typeface="Consolas"/>
              </a:defRPr>
            </a:pPr>
            <a:r>
              <a:t>[ ESPACIO PARA CAPTURA DE PANTALLA #8 ]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262320"/>
                </a:solidFill>
                <a:latin typeface="Arial"/>
              </a:defRPr>
            </a:pPr>
            <a:r>
              <a:t>Actas de Reunión (Exportar a PDF) o Lista de Entrega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62320"/>
                </a:solidFill>
                <a:latin typeface="Arial"/>
              </a:defRPr>
            </a:pPr>
            <a:r>
              <a:t>¿Qué pantalla capturar en la app y pegar aquí?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Abre '07. REUNIONES &amp; ACTAS' en 'Casa La Planicie'.</a:t>
            </a:r>
          </a:p>
          <a:p>
            <a:pPr algn="ctr">
              <a:spcAft>
                <a:spcPts val="300"/>
              </a:spcAft>
              <a:defRPr sz="1000">
                <a:solidFill>
                  <a:srgbClr val="6E665E"/>
                </a:solidFill>
                <a:latin typeface="Arial"/>
              </a:defRPr>
            </a:pPr>
            <a:r>
              <a:t>• Captura la ficha de la reunión, las tablas de participantes/acuerdos y el botón '📥 EXPORTAR ACTA A PDF'.</a:t>
            </a:r>
          </a:p>
          <a:p>
            <a:pPr algn="ctr">
              <a:defRPr sz="900" i="1">
                <a:solidFill>
                  <a:srgbClr val="C85A32"/>
                </a:solidFill>
                <a:latin typeface="Arial"/>
              </a:defRPr>
            </a:pPr>
            <a:r>
              <a:t>(En Google Slides / PowerPoint: pega tu captura con Ctrl+V encima de este recuadro)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Consolas"/>
              </a:defRPr>
            </a:pPr>
            <a:r>
              <a:t>08 // TECNOLOGÍA Y VISIÓN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2320"/>
                </a:solidFill>
                <a:latin typeface="Arial"/>
              </a:defRPr>
            </a:pPr>
            <a:r>
              <a:t>Solidez Técnica Lograda y Hoja de Ruta con el Socio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84048"/>
            <a:ext cx="1828800" cy="347472"/>
          </a:xfrm>
          <a:prstGeom prst="roundRect">
            <a:avLst/>
          </a:prstGeom>
          <a:solidFill>
            <a:srgbClr val="EFECE6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C85A32"/>
                </a:solidFill>
                <a:latin typeface="Consolas"/>
              </a:defRPr>
            </a:pPr>
            <a:r>
              <a:t>LISTO PARA OPERAR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91672" cy="19050"/>
          </a:xfrm>
          <a:prstGeom prst="rect">
            <a:avLst/>
          </a:prstGeom>
          <a:solidFill>
            <a:srgbClr val="DF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508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5029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Lo que ya está resuelto y funcionando hoy (v2.0)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Base de Datos en la Nube + Respaldo en Excel: Conecta en tiempo real con Google Sheets y cuenta con soporte directo para archivos Excel (.xlsx) en Google Drive.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Guardado Inteligente de Cambios: El panel lateral detecta automáticamente qué tablas fueron editadas ('● X cambios sin guardar') y sincroniza solo lo necesario.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Diseño Ejecutivo y Simétrico: Interfaz limpia en tonos cálidos (#F7F4EF y terracota #C85A32), adaptable a cualquier resolución de pantalla.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Configuración Multi-Socio: Los nombres de los directores o socios se configuran libremente desde el panel lateral.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Calidad Verificada: Sistema respaldado por 22 pruebas automáticas que garantizan la exactitud de todos los cálculos financieros.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2588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325880"/>
            <a:ext cx="5394960" cy="508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90472"/>
            <a:ext cx="5029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2320"/>
                </a:solidFill>
                <a:latin typeface="Arial"/>
              </a:defRPr>
            </a:pPr>
            <a:r>
              <a:t>Hoja de Ruta Propuesta con el Socio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FASE 1 — Implementación Interna Inmediata (Mes 1): Gestionar el 100% de nuestros proyectos activos en la app, estandarizando presupuestos de materiales, control de contratistas y actas en PDF.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FASE 2 — Portal de Consulta para el Cliente (Mes 2–3): Habilitar una vista para que el cliente revise el avance de su proyecto en línea, apruebe compras de materiales y consulte su estado de cuenta.</a:t>
            </a:r>
          </a:p>
          <a:p>
            <a:pPr>
              <a:spcAft>
                <a:spcPts val="600"/>
              </a:spcAft>
              <a:defRPr sz="1050">
                <a:solidFill>
                  <a:srgbClr val="6E665E"/>
                </a:solidFill>
                <a:latin typeface="Arial"/>
              </a:defRPr>
            </a:pPr>
            <a:r>
              <a:t>▪  FASE 3 — Escalabilidad como Software por Suscripción (Mes 4+): Comercializar el sistema mediante suscripción mensual para otros estudios de diseño, arquitectura y remodelación.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